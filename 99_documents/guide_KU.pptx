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_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4937760" cy="493776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566928"/>
            <a:ext cx="241823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41732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E9CE9F"/>
                </a:solidFill>
                <a:latin typeface="Noto Sans KR"/>
                <a:ea typeface="Noto Sans KR"/>
              </a:rPr>
              <a:t>Code and data release  ·  GitHub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E9CE9F"/>
                </a:solidFill>
                <a:latin typeface="Noto Sans KR"/>
                <a:ea typeface="Noto Sans KR"/>
              </a:rPr>
              <a:t>github.com/brave1094/refine-first-trust-later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7863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Noto Sans KR"/>
                <a:ea typeface="Noto Sans KR"/>
              </a:rPr>
              <a:t>Refine First, Trust Later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9CE9F"/>
                </a:solidFill>
                <a:latin typeface="Noto Sans KR"/>
                <a:ea typeface="Noto Sans KR"/>
              </a:rPr>
              <a:t>A guide to the repository — data, models,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E9CE9F"/>
                </a:solidFill>
                <a:latin typeface="Noto Sans KR"/>
                <a:ea typeface="Noto Sans KR"/>
              </a:rPr>
              <a:t>pipeline, and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00600"/>
            <a:ext cx="2926080" cy="27940"/>
          </a:xfrm>
          <a:prstGeom prst="rect">
            <a:avLst/>
          </a:prstGeom>
          <a:solidFill>
            <a:srgbClr val="E9CE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Yun-Seong Jang</a:t>
            </a:r>
            <a:r>
              <a:rPr sz="1400" b="1" i="0" baseline="30000">
                <a:solidFill>
                  <a:srgbClr val="E9CE9F"/>
                </a:solidFill>
                <a:latin typeface="Noto Sans KR"/>
                <a:ea typeface="Noto Sans KR"/>
              </a:rPr>
              <a:t>1</a:t>
            </a: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,  Gyeong-Min Yu</a:t>
            </a:r>
            <a:r>
              <a:rPr sz="1400" b="1" i="0" baseline="30000">
                <a:solidFill>
                  <a:srgbClr val="E9CE9F"/>
                </a:solidFill>
                <a:latin typeface="Noto Sans KR"/>
                <a:ea typeface="Noto Sans KR"/>
              </a:rPr>
              <a:t>1</a:t>
            </a: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,  Eun-Hyeok Park</a:t>
            </a:r>
            <a:r>
              <a:rPr sz="1400" b="1" i="0" baseline="30000">
                <a:solidFill>
                  <a:srgbClr val="E9CE9F"/>
                </a:solidFill>
                <a:latin typeface="Noto Sans KR"/>
                <a:ea typeface="Noto Sans KR"/>
              </a:rPr>
              <a:t>1</a:t>
            </a: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,  Gyu-Sang Shim</a:t>
            </a:r>
            <a:r>
              <a:rPr sz="1400" b="1" i="0" baseline="30000">
                <a:solidFill>
                  <a:srgbClr val="E9CE9F"/>
                </a:solidFill>
                <a:latin typeface="Noto Sans KR"/>
                <a:ea typeface="Noto Sans KR"/>
              </a:rPr>
              <a:t>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Ui-Jong Jeong</a:t>
            </a:r>
            <a:r>
              <a:rPr sz="1400" b="1" i="0" baseline="30000">
                <a:solidFill>
                  <a:srgbClr val="E9CE9F"/>
                </a:solidFill>
                <a:latin typeface="Noto Sans KR"/>
                <a:ea typeface="Noto Sans KR"/>
              </a:rPr>
              <a:t>1</a:t>
            </a: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,  Yang-Seo Choi</a:t>
            </a:r>
            <a:r>
              <a:rPr sz="1400" b="1" i="0" baseline="30000">
                <a:solidFill>
                  <a:srgbClr val="E9CE9F"/>
                </a:solidFill>
                <a:latin typeface="Noto Sans KR"/>
                <a:ea typeface="Noto Sans KR"/>
              </a:rPr>
              <a:t>2</a:t>
            </a:r>
            <a:r>
              <a:rPr sz="1400" b="0" i="0">
                <a:solidFill>
                  <a:srgbClr val="FFFFFF"/>
                </a:solidFill>
                <a:latin typeface="Noto Sans KR"/>
                <a:ea typeface="Noto Sans KR"/>
              </a:rPr>
              <a:t>,  Myung-Sup Kim</a:t>
            </a:r>
            <a:r>
              <a:rPr sz="1400" b="1" i="0" baseline="30000">
                <a:solidFill>
                  <a:srgbClr val="E9CE9F"/>
                </a:solidFill>
                <a:latin typeface="Noto Sans KR"/>
                <a:ea typeface="Noto Sans KR"/>
              </a:rPr>
              <a:t>1*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9CE9F"/>
                </a:solidFill>
                <a:latin typeface="Noto Sans KR"/>
                <a:ea typeface="Noto Sans KR"/>
              </a:rPr>
              <a:t>1 Korea University   2 Electronics and Telecommunications Research Institute   * corresponding 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2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From the downloads to every number of the article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64792"/>
            <a:ext cx="9601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121C"/>
                </a:solidFill>
                <a:latin typeface="Noto Sans KR"/>
                <a:ea typeface="Noto Sans KR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0848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E"/>
                </a:solidFill>
                <a:latin typeface="Noto Sans KR"/>
                <a:ea typeface="Noto Sans KR"/>
              </a:rPr>
              <a:t>Task-relative noise, the 50-rule framework, and the five illusions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496312"/>
            <a:ext cx="457200" cy="457200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478024"/>
            <a:ext cx="9601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121C"/>
                </a:solidFill>
                <a:latin typeface="Noto Sans KR"/>
                <a:ea typeface="Noto Sans KR"/>
              </a:rPr>
              <a:t>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79806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E"/>
                </a:solidFill>
                <a:latin typeface="Noto Sans KR"/>
                <a:ea typeface="Noto Sans KR"/>
              </a:rPr>
              <a:t>What the repository holds — and what it does not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191256"/>
            <a:ext cx="9601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121C"/>
                </a:solidFill>
                <a:latin typeface="Noto Sans KR"/>
                <a:ea typeface="Noto Sans KR"/>
              </a:rPr>
              <a:t>Data — 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511296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E"/>
                </a:solidFill>
                <a:latin typeface="Noto Sans KR"/>
                <a:ea typeface="Noto Sans KR"/>
              </a:rPr>
              <a:t>Eight public datasets: download, rename, check, align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922776"/>
            <a:ext cx="457200" cy="457200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904488"/>
            <a:ext cx="9601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121C"/>
                </a:solidFill>
                <a:latin typeface="Noto Sans KR"/>
                <a:ea typeface="Noto Sans KR"/>
              </a:rPr>
              <a:t>Models — 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245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E"/>
                </a:solidFill>
                <a:latin typeface="Noto Sans KR"/>
                <a:ea typeface="Noto Sans KR"/>
              </a:rPr>
              <a:t>Seven models: pinned upstream code, weights, our changes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617720"/>
            <a:ext cx="9601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121C"/>
                </a:solidFill>
                <a:latin typeface="Noto Sans KR"/>
                <a:ea typeface="Noto Sans KR"/>
              </a:rPr>
              <a:t>Pipeline — Steps 3 to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93776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E"/>
                </a:solidFill>
                <a:latin typeface="Noto Sans KR"/>
                <a:ea typeface="Noto Sans KR"/>
              </a:rPr>
              <a:t>Sessions, rule marking, lists, model inputs, training, analyses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330952"/>
            <a:ext cx="9601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7C121C"/>
                </a:solidFill>
                <a:latin typeface="Noto Sans KR"/>
                <a:ea typeface="Noto Sans KR"/>
              </a:rPr>
              <a:t>Results and Reproduction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65099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E"/>
                </a:solidFill>
                <a:latin typeface="Noto Sans KR"/>
                <a:ea typeface="Noto Sans KR"/>
              </a:rPr>
              <a:t>Released numbers and a quick 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3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Task-relative noise — definition, framework, five illusions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357621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92224"/>
            <a:ext cx="32104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121C"/>
                </a:solidFill>
                <a:latin typeface="Noto Sans KR"/>
                <a:ea typeface="Noto Sans KR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31136"/>
            <a:ext cx="321045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Noise — a session without the task's target signal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e.g. OS background in an app class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Task-relative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noise for one task, signal for another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Measured per session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one column per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7738" y="1664208"/>
            <a:ext cx="357621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0618" y="1792224"/>
            <a:ext cx="32104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121C"/>
                </a:solidFill>
                <a:latin typeface="Noto Sans KR"/>
                <a:ea typeface="Noto Sans KR"/>
              </a:rPr>
              <a:t>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231136"/>
            <a:ext cx="321045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3 levels · 6 categories · 50 rules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Mandatory — data quality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Aa collection defects (7)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Bb label errors (29)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Optional — environment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Cc network control (5) · Cd background (4)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De third-party CDN/SSO (4) · Df browser 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1664208"/>
            <a:ext cx="357621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5436" y="1792224"/>
            <a:ext cx="32104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121C"/>
                </a:solidFill>
                <a:latin typeface="Noto Sans KR"/>
                <a:ea typeface="Noto Sans KR"/>
              </a:rPr>
              <a:t>Five illusions of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231136"/>
            <a:ext cx="321045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Suppressed target signal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Damaged learning dynamics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Collapsed class boundaries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Undermined evaluation objectivity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Feature importance shifted to artifacts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Refine first, trust later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the repository lets anyone re-derive every number of the eight public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4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Layout — assets, data, and one folder per stage of the pipeline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64208"/>
          <a:ext cx="7315200" cy="3218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63040"/>
                <a:gridCol w="5120640"/>
                <a:gridCol w="7315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Folder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Contents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Step</a:t>
                      </a:r>
                    </a:p>
                  </a:txBody>
                  <a:tcPr marL="45720" marR="45720" marT="9144" marB="9144" anchor="ctr"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00_assets/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datasets/ (captures + _tools/) · models/ (upstream code, weights)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1, 2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01_dataset/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session lists, session keys, model inputs, field-name maps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5, 6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02_preprocess/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sessions, statistics, 50-rule engine, lists, model inputs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3–6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03_model/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training, result tables; own_models/ (1,205 features, 2D-CNN)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04_analysis/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analyses of the five illusions, seed statistics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7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99_documents/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DATASETS · MODELS · PIPELINE · PAPER_MAP · guide · S1 · results/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repo_paths.py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the layout in one file · run_pipeline.sh: steps 3–7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—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046720" y="1664208"/>
            <a:ext cx="3642055" cy="3218688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47888" y="1810512"/>
            <a:ext cx="32397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7C121C"/>
                </a:solidFill>
                <a:latin typeface="Noto Sans KR"/>
                <a:ea typeface="Noto Sans KR"/>
              </a:rPr>
              <a:t>Not included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322576"/>
            <a:ext cx="3239719" cy="2414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Captures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from their publishers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99_documents/DATASETS.md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Private #1 and Private #2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no data, list, or result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Model weights (~780 GB)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regenerated by training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Per-session rule columns of cic18, iot23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regenerated by step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One layout file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every script takes its folders from repo_paths.py; released numbers sit in 99_documents/results/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5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Data —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Eight public datasets — official files renamed exactly as in our 01_pcap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64208"/>
          <a:ext cx="11185852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44215"/>
                <a:gridCol w="2321592"/>
                <a:gridCol w="1899484"/>
                <a:gridCol w="844215"/>
                <a:gridCol w="1477377"/>
                <a:gridCol w="3798969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ID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Dataset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Paper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Classes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Sessions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02_preprocess/00_rename.py — how checked</a:t>
                      </a:r>
                    </a:p>
                  </a:txBody>
                  <a:tcPr marL="45720" marR="45720" marT="9144" marB="9144" anchor="ctr"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vpn16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ISCX VPN-nonVPN 2016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Draper-Gil 2016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305,301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byte-identical (139 files)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tor16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ISCX Tor-nonTor 2016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Lashkari 2017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62,593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byte-identical (106 files)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tls1.3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CSTNET-TLS 1.3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Lin 2022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120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46,382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byte-identical (46,372 files)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cispec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CipherSpectrum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Wickramasinghe 2025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41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123,000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byte-identical (123,000 files)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ustc16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USTC-TFC2016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Wang 2017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20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595,783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byte-identical (20; 2 merged)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cic17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CIC-IDS2017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Sharafaldin 2018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1,571,244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one file per day + flow labels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cic18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CSE-CIC-IDS2018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Sharafaldin 2018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51,234,354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our name map (4,006 files)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iot23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CIC IoT Dataset 2023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Neto 2023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30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1,155,285,412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first 64 KiB identical (309)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Captures are not redistributed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download from the publishers; links, files, and terms in 99_documents/DATASETS.md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65776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6B6E"/>
                </a:solidFill>
                <a:latin typeface="Noto Sans KR"/>
                <a:ea typeface="Noto Sans KR"/>
              </a:rPr>
              <a:t>※ Classes (task 3) and sessions before refinement, as in Table 1 of the article. cispec: the released archive holds 41 domains (the paper and page state 40).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6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Data — 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Check and align — released lists work with any file names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75564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Official captures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2140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download (DATASETS.md)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89280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A9762B"/>
                </a:solidFill>
                <a:latin typeface="Noto Sans KR"/>
                <a:ea typeface="Noto Sans KR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66420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75564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00_rename.py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12140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01_pcap/&lt;class&gt;/…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89280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A9762B"/>
                </a:solidFill>
                <a:latin typeface="Noto Sans KR"/>
                <a:ea typeface="Noto Sans KR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66420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4648" y="175564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12140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sessions + statistics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89280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A9762B"/>
                </a:solidFill>
                <a:latin typeface="Noto Sans KR"/>
                <a:ea typeface="Noto Sans KR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66420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0648" y="175564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verify_counts.py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12140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per-class counts vs 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89280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A9762B"/>
                </a:solidFill>
                <a:latin typeface="Noto Sans KR"/>
                <a:ea typeface="Noto Sans KR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1664208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8" y="175564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align_session_lists.py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56648" y="2121408"/>
            <a:ext cx="17922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lists mapped by content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2852928"/>
            <a:ext cx="5478627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980944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121C"/>
                </a:solidFill>
                <a:latin typeface="Noto Sans KR"/>
                <a:ea typeface="Noto Sans KR"/>
              </a:rPr>
              <a:t>Content key of a session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419856"/>
            <a:ext cx="511286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transport | sorted endpoints | first-packet time (µs)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independent of file names and of the tshark version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Keys of all listed sessions released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01_dataset/&lt;ds&gt;/session_keys.csv — all eight datasets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Self-check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our data aligned to itself: every row of every list identical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147" y="2852928"/>
            <a:ext cx="5478627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3027" y="2980944"/>
            <a:ext cx="51128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121C"/>
                </a:solidFill>
                <a:latin typeface="Noto Sans KR"/>
                <a:ea typeface="Noto Sans KR"/>
              </a:rPr>
              <a:t>tor16 — identical copies in the release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3027" y="3419856"/>
            <a:ext cx="511286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Same session up to four times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7–12 % of the test lists have a copy in training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Illusion 1 without them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Δ +2.15 → +1.96 pp, 95 % CI [1.38, 2.53]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all seven models still positive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Alignment by content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reproduces the sessions of the article even when file names differ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7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Models — Step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Seven models — upstream code pinned, not redistributed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64208"/>
          <a:ext cx="11185853" cy="30723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77377"/>
                <a:gridCol w="1266323"/>
                <a:gridCol w="3587915"/>
                <a:gridCol w="1477377"/>
                <a:gridCol w="3376861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Model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Paper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Code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License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Our change</a:t>
                      </a:r>
                    </a:p>
                  </a:txBody>
                  <a:tcPr marL="45720" marR="45720" marT="9144" marB="9144" anchor="ctr"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XGBoost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Chen 2016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pip xgboost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Apache-2.0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1,205 statistical features (ours)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Random Forest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Breiman 2001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pip scikit-learn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BSD-3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same 1,205 features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2D-CNN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Wang 2017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03_model/own_models (ours)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MIT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own implementation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ET-BERT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Lin 2022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linwhitehat/ET-BERT @ d594706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MIT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none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YaTC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Zhao 2023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NSSL-SJTU/YaTC @ a220b75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no license file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4-line forward() shim (timm ≥ 0.9)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NetMamba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Wang 2024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wangtz19/NetMamba @ bef641e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no license file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none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TrafficFormer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Zhou 2025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IDP-code/TrafficFormer @ 6d0ba64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MIT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none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bash 00_assets/models/setup_models.sh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clones each pinned commit (169 files identical to our copies) and fetches the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6B6E"/>
                </a:solidFill>
                <a:latin typeface="Noto Sans KR"/>
                <a:ea typeface="Noto Sans KR"/>
              </a:rPr>
              <a:t>※ Weights: links of the upstream READMEs, listed in 99_documents/MODELS.md. Repositories without a license file are fetched from their authors, never copied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8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Pipeline — Steps 3 to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Steps in order — bash run_pipeline.sh &lt;step&gt; [datasets]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1737360"/>
            <a:ext cx="384048" cy="384048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01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Sessions and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10512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2201F"/>
                </a:solidFill>
                <a:latin typeface="Noto Sans KR"/>
                <a:ea typeface="Noto Sans KR"/>
              </a:rPr>
              <a:t>01_session_split.py · 03_session_stat.py · official labels (cic17, cic18)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1051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03_session_stat/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04288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936" y="2395728"/>
            <a:ext cx="384048" cy="384048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45973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Rule marking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46888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2201F"/>
                </a:solidFill>
                <a:latin typeface="Noto Sans KR"/>
                <a:ea typeface="Noto Sans KR"/>
              </a:rPr>
              <a:t>04_noise_labeling.py — one column per rule, every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04_session_noisy_labeled/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962656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0936" y="3054096"/>
            <a:ext cx="384048" cy="384048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1810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Session 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127248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2201F"/>
                </a:solidFill>
                <a:latin typeface="Noto Sans KR"/>
                <a:ea typeface="Noto Sans KR"/>
              </a:rPr>
              <a:t>released lists (align) or 05_make_filelist.py · 07_* (1,000 per class, 8:2)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12724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01_dataset/&lt;ds&gt;/00_filelist*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21024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" y="3712464"/>
            <a:ext cx="384048" cy="384048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77647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Model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3785616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2201F"/>
                </a:solidFill>
                <a:latin typeface="Noto Sans KR"/>
                <a:ea typeface="Noto Sans KR"/>
              </a:rPr>
              <a:t>06_make_dataset.py — 7 models × 3 variants, IP/port masking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85616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01_dataset/&lt;ds&gt;/&lt;variant&gt;/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279392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0936" y="4370832"/>
            <a:ext cx="384048" cy="384048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4348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443984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2201F"/>
                </a:solidFill>
                <a:latin typeface="Noto Sans KR"/>
                <a:ea typeface="Noto Sans KR"/>
              </a:rPr>
              <a:t>01_train.py — Exp1–Exp4 × 3 variants × 5 seeds × 7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443984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99_documents/results/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937760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936" y="5029200"/>
            <a:ext cx="384048" cy="384048"/>
          </a:xfrm>
          <a:prstGeom prst="ellipse">
            <a:avLst/>
          </a:prstGeom>
          <a:solidFill>
            <a:srgbClr val="7C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KR"/>
                <a:ea typeface="Noto Sans KR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509320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Analyses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102352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2201F"/>
                </a:solidFill>
                <a:latin typeface="Noto Sans KR"/>
                <a:ea typeface="Noto Sans KR"/>
              </a:rPr>
              <a:t>04_analysis/ — a3–a7 · 01–05 · seed_stats (PAPER_MAP.md)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102352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E"/>
                </a:solidFill>
                <a:latin typeface="Noto Sans KR"/>
                <a:ea typeface="Noto Sans KR"/>
              </a:rPr>
              <a:t>99_documents/results/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Settings of the article built in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batch sizes, epochs, Optuna trials, and seeds 42 · 1 · 7 · 2024 · 31337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9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Pipeline — Steps 3 to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Experimental design — four conditions and three list variants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64208"/>
          <a:ext cx="5760719" cy="228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3828"/>
                <a:gridCol w="1289713"/>
                <a:gridCol w="1289713"/>
                <a:gridCol w="240746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/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Training set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Test set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Used for</a:t>
                      </a:r>
                    </a:p>
                  </a:txBody>
                  <a:tcPr marL="45720" marR="45720" marT="9144" marB="9144" anchor="ctr"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Exp1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refined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refined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Illusions 1, 2, 3, 5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Exp2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refined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7C121C"/>
                          </a:solidFill>
                          <a:latin typeface="Noto Sans KR"/>
                          <a:ea typeface="Noto Sans KR"/>
                        </a:rPr>
                        <a:t>noisy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Illusion 4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Exp3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7C121C"/>
                          </a:solidFill>
                          <a:latin typeface="Noto Sans KR"/>
                          <a:ea typeface="Noto Sans KR"/>
                        </a:rPr>
                        <a:t>noisy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refined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Illusions 1, 2, 3, 5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Exp4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7C121C"/>
                          </a:solidFill>
                          <a:latin typeface="Noto Sans KR"/>
                          <a:ea typeface="Noto Sans KR"/>
                        </a:rPr>
                        <a:t>noisy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7C121C"/>
                          </a:solidFill>
                          <a:latin typeface="Noto Sans KR"/>
                          <a:ea typeface="Noto Sans KR"/>
                        </a:rPr>
                        <a:t>noisy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usual practice; Illusion 4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92240" y="1664208"/>
            <a:ext cx="5196535" cy="301752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810512"/>
            <a:ext cx="4794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7C121C"/>
                </a:solidFill>
                <a:latin typeface="Noto Sans KR"/>
                <a:ea typeface="Noto Sans KR"/>
              </a:rPr>
              <a:t>Three list 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2322576"/>
            <a:ext cx="4794199" cy="2212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full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refined and noisy lists drawn independently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up to 1,000 sessions per class, hash split 8:2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sizectrl — main numbers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noisy training list cut to the refined size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sizectrl+strat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up to 5 pp noise injected per class, paired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87368"/>
            <a:ext cx="576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6B6E"/>
                </a:solidFill>
                <a:latin typeface="Noto Sans KR"/>
                <a:ea typeface="Noto Sans KR"/>
              </a:rPr>
              <a:t>※ In the code, denoised = refined (the article's term).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6B6E"/>
                </a:solidFill>
                <a:latin typeface="Noto Sans KR"/>
                <a:ea typeface="Noto Sans KR"/>
              </a:rPr>
              <a:t>※ Illusion 1 compares Exp1 with Exp3 on the same refined test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One comparison per illusion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only the training set changes between Exp1 and Exp3, only the test set between Exp2 and Exp4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10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Results and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Released numbers — Illusion 1 on the eight public datasets (sizectrl, 5 seeds × 7 models)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64208"/>
          <a:ext cx="6949438" cy="34564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5611"/>
                <a:gridCol w="1759351"/>
                <a:gridCol w="1671384"/>
                <a:gridCol w="1055611"/>
                <a:gridCol w="1407481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Dataset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Δ = Exp1 − Exp3 (pp)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95 % CI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Models +/−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FFFFFF">
                          <a:alpha val="5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</a:rPr>
                        <a:t>Verdict</a:t>
                      </a:r>
                    </a:p>
                  </a:txBody>
                  <a:tcPr marL="45720" marR="45720" marT="9144" marB="9144" anchor="ctr">
                    <a:lnT w="9525" cap="flat" cmpd="sng" algn="ctr">
                      <a:solidFill>
                        <a:srgbClr val="C4C9D1"/>
                      </a:solidFill>
                      <a:prstDash val="solid"/>
                    </a:lnT>
                    <a:lnB w="12700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8E1C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vpn16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+17.73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[+17.00, +18.45]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7 / 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significant (+)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tor16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+2.15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[+1.68, +2.61]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7 / 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significant (+)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tls1.3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-0.19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[-0.41, +0.03]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3 / 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within error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cispec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+0.03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[-0.13, +0.18]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3 / 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within error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ustc16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-0.04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[-0.18, +0.09]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2 / 5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within error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cic17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-0.23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[-0.76, +0.31]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2 / 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within error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cic18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+1.10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[-1.23, +3.44]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2 / 4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within error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iot23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+6.60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[+5.48, +7.72]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2201F"/>
                          </a:solidFill>
                          <a:latin typeface="Noto Sans KR"/>
                          <a:ea typeface="Noto Sans KR"/>
                        </a:rPr>
                        <a:t>7 / 0</a:t>
                      </a:r>
                    </a:p>
                  </a:txBody>
                  <a:tcPr marL="45720" marR="45720" marT="9144" marB="9144" anchor="ctr">
                    <a:lnR w="9525" cap="flat" cmpd="sng" algn="ctr">
                      <a:solidFill>
                        <a:srgbClr val="C4C9D1"/>
                      </a:solidFill>
                      <a:prstDash val="solid"/>
                    </a:lnR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A5FDC"/>
                          </a:solidFill>
                          <a:latin typeface="Noto Sans KR"/>
                          <a:ea typeface="Noto Sans KR"/>
                        </a:rPr>
                        <a:t>significant (+)</a:t>
                      </a:r>
                    </a:p>
                  </a:txBody>
                  <a:tcPr marL="45720" marR="45720" marT="9144" marB="9144" anchor="ctr">
                    <a:lnB w="9525" cap="flat" cmpd="sng" algn="ctr">
                      <a:solidFill>
                        <a:srgbClr val="C4C9D1"/>
                      </a:solidFill>
                      <a:prstDash val="solid"/>
                    </a:lnB>
                    <a:solidFill>
                      <a:srgbClr val="F6EEE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0" y="1664208"/>
            <a:ext cx="4007815" cy="3456432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8" y="1810512"/>
            <a:ext cx="3605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7C121C"/>
                </a:solidFill>
                <a:latin typeface="Noto Sans KR"/>
                <a:ea typeface="Noto Sans KR"/>
              </a:rPr>
              <a:t>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2322576"/>
            <a:ext cx="3605479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Significant where sampled noise is high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vpn16 73.6 % · iot23 27.5 % · tor16 26.6 %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Within error on low-noise datasets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tls1.3 · cispec · ustc16 · cic17 · cic18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Source file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99_documents/results/analysis/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08_seed_stats/sizectrl/seed_stats_ds.csv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Every public number is a file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99_documents/PAPER_MAP.md maps each table and figure to its script and 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46920" y="274320"/>
            <a:ext cx="594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6B6B6E"/>
                </a:solidFill>
                <a:latin typeface="Noto Sans KR"/>
                <a:ea typeface="Noto Sans KR"/>
              </a:rPr>
              <a:t>11</a:t>
            </a:r>
          </a:p>
        </p:txBody>
      </p:sp>
      <p:pic>
        <p:nvPicPr>
          <p:cNvPr id="3" name="Picture 2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74320"/>
            <a:ext cx="873252" cy="2377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" y="310896"/>
            <a:ext cx="146304" cy="146304"/>
          </a:xfrm>
          <a:prstGeom prst="rect">
            <a:avLst/>
          </a:prstGeom>
          <a:solidFill>
            <a:srgbClr val="A9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A9762B"/>
                </a:solidFill>
                <a:latin typeface="Noto Sans KR"/>
                <a:ea typeface="Noto Sans KR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338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7C121C"/>
                </a:solidFill>
                <a:latin typeface="Noto Sans KR"/>
                <a:ea typeface="Noto Sans KR"/>
              </a:rPr>
              <a:t>Results and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E"/>
                </a:solidFill>
                <a:latin typeface="Noto Sans KR"/>
                <a:ea typeface="Noto Sans KR"/>
              </a:rPr>
              <a:t>Quick start — one dataset from download to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64208"/>
            <a:ext cx="7406640" cy="342900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694944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git clone https://github.com/brave1094/refine-first-trust-later.git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cd refine-first-trust-later &amp;&amp; pip install -r requirements.txt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bash 00_assets/models/setup_models.sh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step 2 — upstream code, weights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python 02_preprocess/00_rename.py --dataset vpn16 --src &lt;dl&gt;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step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bash run_pipeline.sh 3 vpn16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sessions, statistics, check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bash run_pipeline.sh align vpn16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released lists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bash run_pipeline.sh 4 vpn16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50-rule marking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bash run_pipeline.sh 6 vpn16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model inputs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GPU=0 bash run_pipeline.sh train vpn16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Exp1–Exp4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2201F"/>
                </a:solidFill>
                <a:latin typeface="Noto Sans KR"/>
                <a:ea typeface="Noto Sans KR"/>
              </a:rPr>
              <a:t>bash run_pipeline.sh 7</a:t>
            </a:r>
            <a:r>
              <a:rPr sz="1050" b="0" i="0">
                <a:solidFill>
                  <a:srgbClr val="6B6B6E"/>
                </a:solidFill>
                <a:latin typeface="Noto Sans KR"/>
                <a:ea typeface="Noto Sans KR"/>
              </a:rPr>
              <a:t>    — analyses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64208"/>
            <a:ext cx="3550615" cy="3429000"/>
          </a:xfrm>
          <a:prstGeom prst="roundRect">
            <a:avLst>
              <a:gd name="adj" fmla="val 6000"/>
            </a:avLst>
          </a:prstGeom>
          <a:solidFill>
            <a:srgbClr val="F8F1F2"/>
          </a:solidFill>
          <a:ln w="9525">
            <a:solidFill>
              <a:srgbClr val="D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1810512"/>
            <a:ext cx="3148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7C121C"/>
                </a:solidFill>
                <a:latin typeface="Noto Sans KR"/>
                <a:ea typeface="Noto Sans KR"/>
              </a:rPr>
              <a:t>Where to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322576"/>
            <a:ext cx="3148279" cy="2624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99_documents/DATASETS.md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downloads, arrangement, checks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99_documents/MODELS.md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commits, weights, settings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99_documents/PIPELINE.md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every step and its output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22201F"/>
                </a:solidFill>
                <a:latin typeface="Noto Sans KR"/>
                <a:ea typeface="Noto Sans KR"/>
              </a:rPr>
              <a:t>• 99_documents/PAPER_MAP.md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6B6B6E"/>
                </a:solidFill>
                <a:latin typeface="Noto Sans KR"/>
                <a:ea typeface="Noto Sans KR"/>
              </a:rPr>
              <a:t>    article → script →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797296"/>
            <a:ext cx="11183112" cy="841248"/>
          </a:xfrm>
          <a:prstGeom prst="roundRect">
            <a:avLst>
              <a:gd name="adj" fmla="val 10000"/>
            </a:avLst>
          </a:prstGeom>
          <a:solidFill>
            <a:srgbClr val="F6E7E9"/>
          </a:solidFill>
          <a:ln w="12700">
            <a:solidFill>
              <a:srgbClr val="DEB8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121C"/>
                </a:solidFill>
                <a:latin typeface="Noto Sans KR"/>
                <a:ea typeface="Noto Sans KR"/>
              </a:rPr>
              <a:t>⇒  </a:t>
            </a:r>
            <a:r>
              <a:rPr sz="1300" b="1" i="0">
                <a:solidFill>
                  <a:srgbClr val="7C121C"/>
                </a:solidFill>
                <a:latin typeface="Noto Sans KR"/>
                <a:ea typeface="Noto Sans KR"/>
              </a:rPr>
              <a:t>Requirements — </a:t>
            </a:r>
            <a:r>
              <a:rPr sz="1300" b="0" i="0">
                <a:solidFill>
                  <a:srgbClr val="22201F"/>
                </a:solidFill>
                <a:latin typeface="Noto Sans KR"/>
                <a:ea typeface="Noto Sans KR"/>
              </a:rPr>
              <a:t>Python 3.10+, Wireshark (tshark, editcap), and the environment of each upstream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12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mblem_w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4937760" cy="493776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566928"/>
            <a:ext cx="2418236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103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Noto Sans KR"/>
                <a:ea typeface="Noto Sans KR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246120"/>
            <a:ext cx="8229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9CE9F"/>
                </a:solidFill>
                <a:latin typeface="Noto Sans KR"/>
                <a:ea typeface="Noto Sans KR"/>
              </a:rPr>
              <a:t>Refine first, trust later — reproduce, extend, and question our numbers.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Noto Sans KR"/>
                <a:ea typeface="Noto Sans KR"/>
              </a:rPr>
              <a:t>github.com/brave1094/refine-first-trust-later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9CE9F"/>
                </a:solidFill>
                <a:latin typeface="Noto Sans KR"/>
                <a:ea typeface="Noto Sans KR"/>
              </a:rPr>
              <a:t>Code MIT · data CC BY 4.0 · cite via CITATION.cff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